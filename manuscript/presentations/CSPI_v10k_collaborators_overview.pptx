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ptos Display"/>
              </a:rPr>
              <a:t>Beyond site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FIA's classification disagrees with site index but agrees with a composite measure of forest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Aaron R. Weiskittel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University of Maine | Center for Research on Sustainable Forests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8C5A"/>
                </a:solidFill>
                <a:latin typeface="Aptos"/>
              </a:rPr>
              <a:t>Collaborators briefing | 13 June 2026 | CSPI v2.0.0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C5A"/>
                </a:solidFill>
                <a:latin typeface="Aptos"/>
              </a:rPr>
              <a:t>Data concept 10.5281/zenodo.20515034 | Analytical chain 10.5281/zenodo.20693106 | v2.0.0 10.5281/zenodo.20663652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changed since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The release line shifted from a single-metric predicted site index to a multi-metric composite.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73152" cy="420624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B68B8"/>
                </a:solidFill>
                <a:latin typeface="Aptos Display"/>
              </a:rPr>
              <a:t>v1.0.0 (June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CSPI v3 and v4 at 30 m and 1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Predicted site index from FIA SICOND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Still available at 10.5281/zenodo.20515035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420624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5DA6"/>
                </a:solidFill>
                <a:latin typeface="Aptos Display"/>
              </a:rPr>
              <a:t>v2.0.0 (June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Multi-metric composite of ESI + BGI + Asym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Unified North America height-and-age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Each component ships as a standalone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91640"/>
            <a:ext cx="73152" cy="420624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2207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15554"/>
                </a:solidFill>
                <a:latin typeface="Aptos Display"/>
              </a:rPr>
              <a:t>v0.10 manuscript reframe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Site productivity is empirically multi-dimensional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studies miss species, age, regime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FIA SITECLCD tracks biomass growth, not site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The release is the composite. The conceptual paper says productivity is multi-dimensional.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Headline empirical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FIA's own seven-class productivity rating (SITECLCD) tracks biomass growth, not site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E15554"/>
                </a:solidFill>
                <a:latin typeface="Aptos Display"/>
              </a:rPr>
              <a:t>0.808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5B68B8"/>
                </a:solidFill>
                <a:latin typeface="Aptos Display"/>
              </a:rPr>
              <a:t>0.751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ESI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1A3D28"/>
                </a:solidFill>
                <a:latin typeface="Aptos Display"/>
              </a:rPr>
              <a:t>+0.06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Six percentage-point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ptos"/>
              </a:rPr>
              <a:t>Random forest at 63,310 FIA plots. NPP alone reaches only R² = 0.13.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FIA's classification has been measuring biomass growth, not height growth potential. For seven decades.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Single-metric site index studies have been carrying biomass-growth structure unlabeled.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Mean productivity by FIA site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ptos"/>
              </a:rPr>
              <a:t>ESI is flat across the seven classes. BGI drops by a factor of 2.3. The composite tracks the classification.</a:t>
            </a:r>
          </a:p>
        </p:txBody>
      </p:sp>
      <p:pic>
        <p:nvPicPr>
          <p:cNvPr id="5" name="Picture 4" descr="F8_siteclcd_by_mea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site index were what FIA SITECLCD measures, the ESI line would tilt with the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Hierarchical ecoregion weighting boosts SITECLCD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Equal-weight + ecoregion composite reaches R² = 0.832 vs 0.812 alone (CI non-overlapping).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E15554"/>
                </a:solidFill>
                <a:latin typeface="Aptos Display"/>
              </a:rPr>
              <a:t>R² 0.832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equal + hier composite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Bootstrap 95% CI [0.829, 0.835]; +0.020 over equal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5B68B8"/>
                </a:solidFill>
                <a:latin typeface="Aptos Display"/>
              </a:rPr>
              <a:t>50 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EPA Level III ecoregions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Mean w_ESI=1.77, w_BGI=0.21, w_Asym=0.34 across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Aptos"/>
              </a:rPr>
              <a:t>Per-region PC1 captures 48% to 84% of variance; Western ESI-dominated, Eastern Asym-dominated.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9418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When you swap SICOND for the unified-target ESI in growth-and-yield work, expect the calibrations to shift. The shift will be in the direction of less biomass-growth information and more pure height-growth-potential information. Whether that shift is desirable depends on your application.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Multilevel ecoregion: +0.020 R² gain (CI non-overlapping); SITECLCD result remains the headline anchor.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The relationship flips at 120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ESI–BGI correlation goes from −0.57 in middle-age stands to +0.33 in old growth.</a:t>
            </a:r>
          </a:p>
        </p:txBody>
      </p:sp>
      <p:pic>
        <p:nvPicPr>
          <p:cNvPr id="5" name="Picture 4" descr="F9_stand_ag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productivity surface trained pooled across stand ages is wrong in opposite directions in young vs old stands.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Species range from 0.028 to 0.492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Yellow-poplar essentially independent (r = 0.028); Douglas-fir strongly positive (r = 0.492).</a:t>
            </a:r>
          </a:p>
        </p:txBody>
      </p:sp>
      <p:pic>
        <p:nvPicPr>
          <p:cNvPr id="5" name="Picture 4" descr="F10_per_species_ESI_B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national productivity ranking implicitly assumes one ESI–BGI relationship. Six species say otherwise.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Which productivity measure should you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Five operational measures, five primary applications. Pick by what you actually want to know.</a:t>
            </a:r>
          </a:p>
        </p:txBody>
      </p:sp>
      <p:pic>
        <p:nvPicPr>
          <p:cNvPr id="5" name="Picture 4" descr="F11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103327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your application is not a clean match for one measure, the composite is the recommended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CSPI v2 spatial pattern over CONUS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30 m grid, z-score equal-weight average of ESI v7 + BGI + Asym, rescaled to 0–100.</a:t>
            </a:r>
          </a:p>
        </p:txBody>
      </p:sp>
      <p:pic>
        <p:nvPicPr>
          <p:cNvPr id="5" name="Picture 4" descr="F7_cspi_v21_3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Pacific Northwest coastal forest band highest; southwestern desert margin lowest; central hardwoods intermediate.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you get when you cite the v2 deposit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Zenodo concept 10.5281/zenodo.20515034 always resolves to the latest version. v2.0.0 lightweight files are live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83080"/>
            <a:ext cx="73152" cy="59436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B68B8"/>
                </a:solidFill>
                <a:latin typeface="Aptos Display"/>
              </a:rPr>
              <a:t>ESI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Recommended 1 km predicted site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38 MB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59736"/>
            <a:ext cx="73152" cy="594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0545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5DA6"/>
                </a:solidFill>
                <a:latin typeface="Aptos Display"/>
              </a:rPr>
              <a:t>CSPI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0545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Multi-metric composite metadata +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05456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30 KB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36391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182111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82111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Annual NPP 2017–2023, 500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182111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130 MB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813048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5876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Interannual stability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58768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149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489704"/>
            <a:ext cx="73152" cy="59436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3D28"/>
                </a:solidFill>
                <a:latin typeface="Aptos Display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35424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README, dictionary, NEWS, CITATION.cff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535424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few 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66360"/>
            <a:ext cx="73152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99999"/>
                </a:solidFill>
                <a:latin typeface="Aptos Display"/>
              </a:rPr>
              <a:t>v2.1.0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2120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30 m surfaces, awaiting Zenodo quota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418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Aptos"/>
              </a:rPr>
              <a:t>v1.0.0 SICOND-target surfaces remain available at 10.5281/zenodo.20515035 for legacy 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Component layers ship separately so you can decompose the composite or use the single measure you need.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How to cite for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Cite the concept DOI for stability across versions; the version DOI for a specific snapshot.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4023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5DA6"/>
                </a:solidFill>
                <a:latin typeface="Aptos Display"/>
              </a:rPr>
              <a:t>If you used the composite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Weiskittel, A.R. (2026). Composite Site Productivity Index (CSPI) v2.0.0 for the conterminous United States. Zenodo.
https://doi.org/10.5281/zenodo.20663652
Or, for a version-stable reference:
Weiskittel, A.R. Composite Site Productivity Index (CSPI). Zenodo concept.
https://doi.org/10.5281/zenodo.20515034
Also cite the v0.10 multi-dimensional paper once it is in press at FEM.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73152" cy="402336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15554"/>
                </a:solidFill>
                <a:latin typeface="Aptos Display"/>
              </a:rPr>
              <a:t>If you used a single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Cite the same record but specify the band you used:
...ESI v7 layer from CSPI v2.0.0
...BGI 30 m layer from CSPI v2.0.0
...Asym 30 m layer from CSPI v2.0.0
...MOD17 NPP 500 m layer from CSPI v2.0.0
For SICOND, cite the FIA Phase 2 condition table directly, not this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Concept DOI for stability; version DOI for snapshot; the manuscript for the conceptual reframe.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is next and how to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v2.0.1 and v2.1.0 are queued behind Cardinal compute; the manuscript is targeted at Forest Ecology and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FEM submission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Final v0.10 polish, internal review, then submit. Outreach package staged at CRSF news + UMaine Comms.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7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v2.0.1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Adds 30 m quantile-RF uncertainty raster for ESI v7. Cardinal job 11553490 is mid-array (4 of 40 running).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77639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1–2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5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v2.1.0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59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30 m wall-to-wall surfaces (composite + components) once Zenodo quota expansion approved. NPP upgrade to MOD17 500 m baked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206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206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Collaborator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7784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FVS DG-Kuehne calibrations, CFRU growth-and-yield benchmarks, Carbon Field Pilot validation, ForCAST applications.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ptos"/>
              </a:rPr>
              <a:t>Engage: aaron.weiskittel@maine.edu  |  GitHub: holoros/fvs-conus  |  Zenodo concept 10.5281/zenodo.20515034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Questions, applications, collaborations?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aaron.weiskittel@maine.edu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F8C5A"/>
                </a:solidFill>
                <a:latin typeface="Aptos"/>
              </a:rPr>
              <a:t>Center for Research on Sustainable Forests  |  University of 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C5A"/>
                </a:solidFill>
                <a:latin typeface="Aptos"/>
              </a:rPr>
              <a:t>github.com/holoros/fvs-conus  |  10.5281/zenodo.20515034  |  v0.10 manuscript in revision for FEM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v0.10j extensions</a:t>
            </a:r>
          </a:p>
          <a:p>
            <a:pPr algn="ctr">
              <a:defRPr sz="2200">
                <a:solidFill>
                  <a:srgbClr val="E0E0E0"/>
                </a:solidFill>
              </a:defRPr>
            </a:pPr>
            <a:r>
              <a:t>Parent material, FORTYPCD, Asym v9 corrective surface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§3.14 Parent material as a fourth stratification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Volcanic 39.9 m vs Organic 19.2 m mean ESI; SITECLCD reverses the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gSSURGO copmgrp.pmgroupname grouped into 10 classes at FIA plot mukeys (n = 110,494)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Mean ESI ranges 19.2 m (Organic) to 39.9 m (Volcanic); SITECLCD ranking goes the other way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Volcanic: highest mean ESI (39.9 m) but lowest FIA productivity rating (SITECLCD = 5.69 of 7)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Organic: lowest mean ESI (19.2 m) but highest BGI (2.04 Mg/ha/yr), highest FIA productivity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Same opposite-sign structural pattern as East/West, per-species heterogeneity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Figure 12: ΔESI = v9 - v7 at plot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PM contributes no spatial reorganization for height-growth productivity</a:t>
            </a:r>
          </a:p>
        </p:txBody>
      </p:sp>
      <p:pic>
        <p:nvPicPr>
          <p:cNvPr id="4" name="Picture 3" descr="F12_v9_v7_spatial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412480" cy="458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04040"/>
                </a:solidFill>
              </a:defRPr>
            </a:pPr>
            <a:r>
              <a:t>Mean |ΔESI| = 0.22 m on 28 m scale | 1.1% of plots shift &gt; 1 m | pm_factor rank: 35 of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§3.15 PM-aware composite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Optimal ESI/BGI/Asym weights vary by substrate but global pattern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Equal-weight composite OOB R² = 0.800 (current baseline)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Free 3-component composite OOB R² = 0.817 (+0.016, matches §3.9 ecoregion result)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Add pm_factor on top: OOB R² = 0.817 (no operational gain)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Per-PM stratified weights: 0.774 (overfits small categories)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Per-PM weight heterogeneity (impurity importance):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Alluvial: BGI dominates (6943 &gt; ESI 2702)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Residuum: BGI dominates (5962 &gt; ESI 3246)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Marine: ESI ≈ Asym &gt; BGI (2511, 2595, 2099)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Colluvium + Glacial: ESI dominates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§3.16 Forest type group strengthens the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r(ESI,BGI) ranges -0.555 to +0.591 across forest type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Disturbance, treatment, forest type group, stand size class — all stratified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Forest type group adds +0.052 R² to SITECLCD recovery (0.801 → 0.853)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Comparable to L1/L2/L3 ecoregion result (+0.054)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Per-FORTYPCD heterogeneity: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Spruce-Fir (n = 26,730): r(ESI,BGI) = +0.398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Maple-Beech-Birch (n = 7,276): r(ESI,BGI) = -0.311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Oak-Gum-Cypress (n = 602): r(ESI,BGI) = -0.555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Longleaf-Slash pine (n = 1,656): r(ESI,BGI) = +0.591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Stand size class: r(ESI,BGI) ranges only -0.43 to -0.51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Robust to stocking level — operationally meaningful for the composite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§3.17 Asym v9: where parent material does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Long-run carrying capacity is the dimension PM informs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Same v9 refit (env + PM, no LAT/LON) on three productivity measures: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ESI v9 (height growth):  ΔR² = +0.001, pm rank 35 of 35  (climate-saturated)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BGI v9 (current growth): ΔR² = +0.001, pm rank 12 of 17  (soil-saturated)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Asym v9 (carrying capacity): ΔR² = +0.008, pm rank 8 of 12  (PM matters)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Refit on v3 30 m predictor stack: OOB R² 0.828 → 0.836, RMSE 8.40 → 8.21 Mg/ha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~6x larger marginal gain than for ESI or BGI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Ecological reading: deep substrate (rooting depth, bedrock chemistry, drainage)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influences carrying capacity more than short-run growth dynamics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v3.0.0 release direction: ship ESI v7 baseline + Asym v9 corrective surface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D28"/>
                </a:solidFill>
              </a:defRPr>
            </a:pPr>
            <a:r>
              <a:t>v3.0.0 release 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Three new products + LAT/LON exclusion methodological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Asym v9 30 m corrective surface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Tile predict array running on Cardinal (240 tiles, 8 concurrent)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Post-surface pipeline auto-fires on tile completion (forest mask + delta layer)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Parent material 30 m CONUS overlay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1.4 billion pixels, 255 MB compressed, 10 categories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Reprojected to EPSG:4326 matching the v3 aligned grid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Delta Asym = v9 - v7 layer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Shows where geology reorganizes asymptotic biomass predictions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Largest over Organic peatlands and Volcanic substrates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Zenodo metadata staged at zenodo/v3.0.0_metadata.json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Concept DOI 10.5281/zenodo.20515034 | v2.0.0 at 10.5281/zenodo.20663652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