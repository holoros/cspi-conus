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716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Aptos Display"/>
              </a:rPr>
              <a:t>Beyond site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ptos"/>
              </a:rPr>
              <a:t>FIA's classification disagrees with site index but agrees with a composite measure of forest productivity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Aaron R. Weiskittel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University of Maine | Center for Research on Sustainable Forests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406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F8C5A"/>
                </a:solidFill>
                <a:latin typeface="Aptos"/>
              </a:rPr>
              <a:t>Collaborators briefing | 13 June 2026 | CSPI v2.0.0 release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8C5A"/>
                </a:solidFill>
                <a:latin typeface="Aptos"/>
              </a:rPr>
              <a:t>Data concept 10.5281/zenodo.20515034 | Analytical chain 10.5281/zenodo.20693106 | v2.0.0 10.5281/zenodo.20663652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What changed since v1.0.0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666666"/>
                </a:solidFill>
                <a:latin typeface="Aptos"/>
              </a:rPr>
              <a:t>The release line shifted from a single-metric predicted site index to a multi-metric composite.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73152" cy="4206240"/>
          </a:xfrm>
          <a:prstGeom prst="rect">
            <a:avLst/>
          </a:prstGeom>
          <a:solidFill>
            <a:srgbClr val="5B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691640"/>
            <a:ext cx="3611880" cy="42062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5B68B8"/>
                </a:solidFill>
                <a:latin typeface="Aptos Display"/>
              </a:rPr>
              <a:t>v1.0.0 (June 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Single-metric CSPI v3 and v4 at 30 m and 1 km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Predicted site index from FIA SICOND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Still available at 10.5281/zenodo.20515035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691640"/>
            <a:ext cx="73152" cy="4206240"/>
          </a:xfrm>
          <a:prstGeom prst="rect">
            <a:avLst/>
          </a:prstGeom>
          <a:solidFill>
            <a:srgbClr val="8B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36008" y="1691640"/>
            <a:ext cx="3611880" cy="42062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8288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5DA6"/>
                </a:solidFill>
                <a:latin typeface="Aptos Display"/>
              </a:rPr>
              <a:t>v2.0.0 (June 2026)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46888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Multi-metric composite of ESI + BGI + Asym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56616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Unified North America height-and-age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46634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Each component ships as a standalone 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1691640"/>
            <a:ext cx="73152" cy="4206240"/>
          </a:xfrm>
          <a:prstGeom prst="rect">
            <a:avLst/>
          </a:prstGeom>
          <a:solidFill>
            <a:srgbClr val="E15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22207" y="1691640"/>
            <a:ext cx="3611880" cy="42062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18288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15554"/>
                </a:solidFill>
                <a:latin typeface="Aptos Display"/>
              </a:rPr>
              <a:t>v0.10 manuscript reframe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46888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Site productivity is empirically multi-dimensional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56616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Single-metric studies miss species, age, regime 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6634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FIA SITECLCD tracks biomass growth, not site index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The release is the composite. The conceptual paper says productivity is multi-dimensional.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Headline empirical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666666"/>
                </a:solidFill>
                <a:latin typeface="Aptos"/>
              </a:rPr>
              <a:t>FIA's own seven-class productivity rating (SITECLCD) tracks biomass growth, not site index.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E15554"/>
                </a:solidFill>
                <a:latin typeface="Aptos Display"/>
              </a:rPr>
              <a:t>0.808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Aptos"/>
              </a:rPr>
              <a:t>BGI alone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Aptos"/>
              </a:rPr>
              <a:t>OOB R² predicting FIA SITECLCD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19456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5B68B8"/>
                </a:solidFill>
                <a:latin typeface="Aptos Display"/>
              </a:rPr>
              <a:t>0.751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6576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Aptos"/>
              </a:rPr>
              <a:t>ESI alone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411480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Aptos"/>
              </a:rPr>
              <a:t>OOB R² predicting FIA SITECLCD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19456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1A3D28"/>
                </a:solidFill>
                <a:latin typeface="Aptos Display"/>
              </a:rPr>
              <a:t>+0.06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6576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Aptos"/>
              </a:rPr>
              <a:t>BGI advantage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411480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Aptos"/>
              </a:rPr>
              <a:t>Six percentage-point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666666"/>
                </a:solidFill>
                <a:latin typeface="Aptos"/>
              </a:rPr>
              <a:t>Random forest at 63,310 FIA plots. NPP alone reaches only R² = 0.13.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778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Aptos"/>
              </a:rPr>
              <a:t>FIA's classification has been measuring biomass growth, not height growth potential. For seven decades.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Single-metric site index studies have been carrying biomass-growth structure unlabeled.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Mean productivity by FIA site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Aptos"/>
              </a:rPr>
              <a:t>ESI is flat across the seven classes. BGI drops by a factor of 2.3. The composite tracks the classification.</a:t>
            </a:r>
          </a:p>
        </p:txBody>
      </p:sp>
      <p:pic>
        <p:nvPicPr>
          <p:cNvPr id="5" name="Picture 4" descr="F8_siteclcd_by_meas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91640"/>
            <a:ext cx="941832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If site index were what FIA SITECLCD measures, the ESI line would tilt with the classes.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Hierarchical ecoregion weighting boosts SITECLCD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Aptos"/>
              </a:rPr>
              <a:t>Equal-weight + ecoregion composite reaches R² = 0.832 vs 0.812 alone (CI non-overlapping).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0" b="1">
                <a:solidFill>
                  <a:srgbClr val="E15554"/>
                </a:solidFill>
                <a:latin typeface="Aptos Display"/>
              </a:rPr>
              <a:t>R² 0.832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Aptos"/>
              </a:rPr>
              <a:t>equal + hier composite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832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Aptos"/>
              </a:rPr>
              <a:t>Bootstrap 95% CI [0.829, 0.835]; +0.020 over equal alone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000" b="1">
                <a:solidFill>
                  <a:srgbClr val="5B68B8"/>
                </a:solidFill>
                <a:latin typeface="Aptos Display"/>
              </a:rPr>
              <a:t>50 L3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9260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Aptos"/>
              </a:rPr>
              <a:t>EPA Level III ecoregions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3832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Aptos"/>
              </a:rPr>
              <a:t>Mean w_ESI=1.77, w_BGI=0.21, w_Asym=0.34 across regions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114800"/>
            <a:ext cx="9418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333333"/>
                </a:solidFill>
                <a:latin typeface="Aptos"/>
              </a:rPr>
              <a:t>Per-region PC1 captures 48% to 84% of variance; Western ESI-dominated, Eastern Asym-dominated.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09160"/>
            <a:ext cx="94183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ptos"/>
              </a:rPr>
              <a:t>When you swap SICOND for the unified-target ESI in growth-and-yield work, expect the calibrations to shift. The shift will be in the direction of less biomass-growth information and more pure height-growth-potential information. Whether that shift is desirable depends on your application.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Multilevel ecoregion: +0.020 R² gain (CI non-overlapping); SITECLCD result remains the headline anchor.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The relationship flips at 120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Aptos"/>
              </a:rPr>
              <a:t>ESI–BGI correlation goes from −0.57 in middle-age stands to +0.33 in old growth.</a:t>
            </a:r>
          </a:p>
        </p:txBody>
      </p:sp>
      <p:pic>
        <p:nvPicPr>
          <p:cNvPr id="5" name="Picture 4" descr="F9_stand_age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91640"/>
            <a:ext cx="941832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A productivity surface trained pooled across stand ages is wrong in opposite directions in young vs old stands.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Species range from 0.028 to 0.492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Aptos"/>
              </a:rPr>
              <a:t>Yellow-poplar essentially independent (r = 0.028); Douglas-fir strongly positive (r = 0.492).</a:t>
            </a:r>
          </a:p>
        </p:txBody>
      </p:sp>
      <p:pic>
        <p:nvPicPr>
          <p:cNvPr id="5" name="Picture 4" descr="F10_per_species_ESI_BG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91640"/>
            <a:ext cx="941832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A national productivity ranking implicitly assumes one ESI–BGI relationship. Six species say otherwise.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Which productivity measure should you use?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Aptos"/>
              </a:rPr>
              <a:t>Five operational measures, five primary applications. Pick by what you actually want to know.</a:t>
            </a:r>
          </a:p>
        </p:txBody>
      </p:sp>
      <p:pic>
        <p:nvPicPr>
          <p:cNvPr id="5" name="Picture 4" descr="F11_decision_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91640"/>
            <a:ext cx="1033272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If your application is not a clean match for one measure, the composite is the recommended default.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CSPI v2 spatial pattern over CONUS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Aptos"/>
              </a:rPr>
              <a:t>30 m grid, z-score equal-weight average of ESI v7 + BGI + Asym, rescaled to 0–100.</a:t>
            </a:r>
          </a:p>
        </p:txBody>
      </p:sp>
      <p:pic>
        <p:nvPicPr>
          <p:cNvPr id="5" name="Picture 4" descr="F7_cspi_v21_3c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91640"/>
            <a:ext cx="941832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Pacific Northwest coastal forest band highest; southwestern desert margin lowest; central hardwoods intermediate.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What you get when you cite the v2 deposit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Aptos"/>
              </a:rPr>
              <a:t>Zenodo concept 10.5281/zenodo.20515034 always resolves to the latest version. v2.0.0 lightweight files are live now.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783080"/>
            <a:ext cx="73152" cy="594360"/>
          </a:xfrm>
          <a:prstGeom prst="rect">
            <a:avLst/>
          </a:prstGeom>
          <a:solidFill>
            <a:srgbClr val="5B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82880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5B68B8"/>
                </a:solidFill>
                <a:latin typeface="Aptos Display"/>
              </a:rPr>
              <a:t>ESI v6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28800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Aptos"/>
              </a:rPr>
              <a:t>Recommended 1 km predicted site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828800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  <a:latin typeface="Aptos"/>
              </a:rPr>
              <a:t>38 MB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459736"/>
            <a:ext cx="73152" cy="594360"/>
          </a:xfrm>
          <a:prstGeom prst="rect">
            <a:avLst/>
          </a:prstGeom>
          <a:solidFill>
            <a:srgbClr val="8B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505456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5DA6"/>
                </a:solidFill>
                <a:latin typeface="Aptos Display"/>
              </a:rPr>
              <a:t>CSPI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505456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Aptos"/>
              </a:rPr>
              <a:t>Multi-metric composite metadata + dictionary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2505456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  <a:latin typeface="Aptos"/>
              </a:rPr>
              <a:t>30 KB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136391"/>
            <a:ext cx="73152" cy="594360"/>
          </a:xfrm>
          <a:prstGeom prst="rect">
            <a:avLst/>
          </a:prstGeom>
          <a:solidFill>
            <a:srgbClr val="C6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3182111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68C42"/>
                </a:solidFill>
                <a:latin typeface="Aptos Display"/>
              </a:rPr>
              <a:t>MOD17 NPP mean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182111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Aptos"/>
              </a:rPr>
              <a:t>Annual NPP 2017–2023, 500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182111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  <a:latin typeface="Aptos"/>
              </a:rPr>
              <a:t>130 MB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813048"/>
            <a:ext cx="73152" cy="594360"/>
          </a:xfrm>
          <a:prstGeom prst="rect">
            <a:avLst/>
          </a:prstGeom>
          <a:solidFill>
            <a:srgbClr val="C6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858768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68C42"/>
                </a:solidFill>
                <a:latin typeface="Aptos Display"/>
              </a:rPr>
              <a:t>MOD17 NPP CV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858768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Aptos"/>
              </a:rPr>
              <a:t>Interannual stability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858768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  <a:latin typeface="Aptos"/>
              </a:rPr>
              <a:t>149 MB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489704"/>
            <a:ext cx="73152" cy="59436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4535424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3D28"/>
                </a:solidFill>
                <a:latin typeface="Aptos Display"/>
              </a:rPr>
              <a:t>Documentation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535424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Aptos"/>
              </a:rPr>
              <a:t>README, dictionary, NEWS, CITATION.cff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535424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  <a:latin typeface="Aptos"/>
              </a:rPr>
              <a:t>few MB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5166360"/>
            <a:ext cx="73152" cy="59436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521208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999999"/>
                </a:solidFill>
                <a:latin typeface="Aptos Display"/>
              </a:rPr>
              <a:t>v2.1.0 follow-up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5212080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Aptos"/>
              </a:rPr>
              <a:t>30 m surfaces, awaiting Zenodo quota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5212080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666666"/>
                </a:solidFill>
                <a:latin typeface="Aptos"/>
              </a:rPr>
              <a:t>pending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760720"/>
            <a:ext cx="9418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Aptos"/>
              </a:rPr>
              <a:t>v1.0.0 SICOND-target surfaces remain available at 10.5281/zenodo.20515035 for legacy use.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Component layers ship separately so you can decompose the composite or use the single measure you need.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How to cite for your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Aptos"/>
              </a:rPr>
              <a:t>Cite the concept DOI for stability across versions; the version DOI for a specific snapshot.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73152" cy="4023360"/>
          </a:xfrm>
          <a:prstGeom prst="rect">
            <a:avLst/>
          </a:prstGeom>
          <a:solidFill>
            <a:srgbClr val="8B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828800"/>
            <a:ext cx="5376672" cy="4023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5102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5DA6"/>
                </a:solidFill>
                <a:latin typeface="Aptos Display"/>
              </a:rPr>
              <a:t>If you used the composite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5102352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ptos"/>
              </a:rPr>
              <a:t>Weiskittel, A.R. (2026). Composite Site Productivity Index (CSPI) v2.0.0 for the conterminous United States. Zenodo.
https://doi.org/10.5281/zenodo.20663652
Or, for a version-stable reference:
Weiskittel, A.R. Composite Site Productivity Index (CSPI). Zenodo concept.
https://doi.org/10.5281/zenodo.20515034
Also cite the v0.10 multi-dimensional paper once it is in press at FEM.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828800"/>
            <a:ext cx="73152" cy="4023360"/>
          </a:xfrm>
          <a:prstGeom prst="rect">
            <a:avLst/>
          </a:prstGeom>
          <a:solidFill>
            <a:srgbClr val="E15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1828800"/>
            <a:ext cx="5376672" cy="4023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5102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15554"/>
                </a:solidFill>
                <a:latin typeface="Aptos Display"/>
              </a:rPr>
              <a:t>If you used a single component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5102352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Aptos"/>
              </a:rPr>
              <a:t>Cite the same record but specify the band you used:
...ESI v7 layer from CSPI v2.0.0
...BGI 30 m layer from CSPI v2.0.0
...Asym 30 m layer from CSPI v2.0.0
...MOD17 NPP 500 m layer from CSPI v2.0.0
For SICOND, cite the FIA Phase 2 condition table directly, not this release.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tIns="91440"/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Concept DOI for stability; version DOI for snapshot; the manuscript for the conceptual reframe.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4480" y="3657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3D28"/>
                </a:solidFill>
                <a:latin typeface="Aptos Display"/>
              </a:rPr>
              <a:t>What is next and how to engage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51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Aptos"/>
              </a:rPr>
              <a:t>v2.0.1 and v2.1.0 are queued behind Cardinal compute; the manuscript is targeted at Forest Ecology and Management.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83080"/>
            <a:ext cx="502920" cy="50292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8288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F8C5A"/>
                </a:solidFill>
                <a:latin typeface="Aptos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Aptos Display"/>
              </a:rPr>
              <a:t>FEM submission 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286000"/>
            <a:ext cx="7772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Final v0.10 polish, internal review, then submit. Outreach package staged at CRSF news + UMaine Comms.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880360"/>
            <a:ext cx="502920" cy="50292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26079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9260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F8C5A"/>
                </a:solidFill>
                <a:latin typeface="Aptos"/>
              </a:rPr>
              <a:t>Next 2 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926079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Aptos Display"/>
              </a:rPr>
              <a:t>v2.0.1 release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383280"/>
            <a:ext cx="7772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Adds 30 m quantile-RF uncertainty raster for ESI v7. Cardinal job 11553490 is mid-array (4 of 40 running).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977639"/>
            <a:ext cx="502920" cy="50292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23359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0233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F8C5A"/>
                </a:solidFill>
                <a:latin typeface="Aptos"/>
              </a:rPr>
              <a:t>Next 1–2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023359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Aptos Display"/>
              </a:rPr>
              <a:t>v2.1.0 release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480559"/>
            <a:ext cx="7772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30 m wall-to-wall surfaces (composite + components) once Zenodo quota expansion approved. NPP upgrade to MOD17 500 m baked 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074920"/>
            <a:ext cx="502920" cy="50292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20640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12064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F8C5A"/>
                </a:solidFill>
                <a:latin typeface="Aptos"/>
              </a:rPr>
              <a:t>Ongoing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12064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Aptos Display"/>
              </a:rPr>
              <a:t>Collaborator integrations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577840"/>
            <a:ext cx="7772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FVS DG-Kuehne calibrations, CFRU growth-and-yield benchmarks, Carbon Field Pilot validation, ForCAST applications.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035040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Aptos"/>
              </a:rPr>
              <a:t>Engage: aaron.weiskittel@maine.edu  |  GitHub: holoros/fvs-conus  |  Zenodo concept 10.5281/zenodo.20515034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SF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118872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19456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Questions, applications, collaborations?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aaron.weiskittel@maine.edu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6F8C5A"/>
                </a:solidFill>
                <a:latin typeface="Aptos"/>
              </a:rPr>
              <a:t>Center for Research on Sustainable Forests  |  University of Maine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F8C5A"/>
                </a:solidFill>
                <a:latin typeface="Aptos"/>
              </a:rPr>
              <a:t>github.com/holoros/fvs-conus  |  10.5281/zenodo.20515034  |  v0.10 manuscript in revision for FEM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